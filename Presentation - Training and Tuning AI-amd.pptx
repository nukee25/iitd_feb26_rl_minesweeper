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Helvetica World Bold" charset="1" panose="020B0800040000020004"/>
      <p:regular r:id="rId11"/>
    </p:embeddedFont>
    <p:embeddedFont>
      <p:font typeface="Georgia Pro Condensed" charset="1" panose="02040506050405020303"/>
      <p:regular r:id="rId12"/>
    </p:embeddedFont>
    <p:embeddedFont>
      <p:font typeface="Helvetica World" charset="1" panose="020B050004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85262" y="294455"/>
            <a:ext cx="4934488" cy="918051"/>
            <a:chOff x="0" y="0"/>
            <a:chExt cx="1117430" cy="2078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7430" cy="207896"/>
            </a:xfrm>
            <a:custGeom>
              <a:avLst/>
              <a:gdLst/>
              <a:ahLst/>
              <a:cxnLst/>
              <a:rect r="r" b="b" t="t" l="l"/>
              <a:pathLst>
                <a:path h="207896" w="1117430">
                  <a:moveTo>
                    <a:pt x="30643" y="0"/>
                  </a:moveTo>
                  <a:lnTo>
                    <a:pt x="1086787" y="0"/>
                  </a:lnTo>
                  <a:cubicBezTo>
                    <a:pt x="1094914" y="0"/>
                    <a:pt x="1102708" y="3228"/>
                    <a:pt x="1108455" y="8975"/>
                  </a:cubicBezTo>
                  <a:cubicBezTo>
                    <a:pt x="1114202" y="14722"/>
                    <a:pt x="1117430" y="22516"/>
                    <a:pt x="1117430" y="30643"/>
                  </a:cubicBezTo>
                  <a:lnTo>
                    <a:pt x="1117430" y="177252"/>
                  </a:lnTo>
                  <a:cubicBezTo>
                    <a:pt x="1117430" y="185379"/>
                    <a:pt x="1114202" y="193174"/>
                    <a:pt x="1108455" y="198920"/>
                  </a:cubicBezTo>
                  <a:cubicBezTo>
                    <a:pt x="1102708" y="204667"/>
                    <a:pt x="1094914" y="207896"/>
                    <a:pt x="1086787" y="207896"/>
                  </a:cubicBezTo>
                  <a:lnTo>
                    <a:pt x="30643" y="207896"/>
                  </a:lnTo>
                  <a:cubicBezTo>
                    <a:pt x="22516" y="207896"/>
                    <a:pt x="14722" y="204667"/>
                    <a:pt x="8975" y="198920"/>
                  </a:cubicBezTo>
                  <a:cubicBezTo>
                    <a:pt x="3228" y="193174"/>
                    <a:pt x="0" y="185379"/>
                    <a:pt x="0" y="177252"/>
                  </a:cubicBezTo>
                  <a:lnTo>
                    <a:pt x="0" y="30643"/>
                  </a:lnTo>
                  <a:cubicBezTo>
                    <a:pt x="0" y="22516"/>
                    <a:pt x="3228" y="14722"/>
                    <a:pt x="8975" y="8975"/>
                  </a:cubicBezTo>
                  <a:cubicBezTo>
                    <a:pt x="14722" y="3228"/>
                    <a:pt x="22516" y="0"/>
                    <a:pt x="30643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117430" cy="274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Kode Insignia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85262" y="298134"/>
            <a:ext cx="1024793" cy="876272"/>
          </a:xfrm>
          <a:custGeom>
            <a:avLst/>
            <a:gdLst/>
            <a:ahLst/>
            <a:cxnLst/>
            <a:rect r="r" b="b" t="t" l="l"/>
            <a:pathLst>
              <a:path h="876272" w="1024793">
                <a:moveTo>
                  <a:pt x="0" y="0"/>
                </a:moveTo>
                <a:lnTo>
                  <a:pt x="1024793" y="0"/>
                </a:lnTo>
                <a:lnTo>
                  <a:pt x="1024793" y="876273"/>
                </a:lnTo>
                <a:lnTo>
                  <a:pt x="0" y="876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2339" y="9405760"/>
            <a:ext cx="1830638" cy="704351"/>
          </a:xfrm>
          <a:custGeom>
            <a:avLst/>
            <a:gdLst/>
            <a:ahLst/>
            <a:cxnLst/>
            <a:rect r="r" b="b" t="t" l="l"/>
            <a:pathLst>
              <a:path h="704351" w="1830638">
                <a:moveTo>
                  <a:pt x="0" y="0"/>
                </a:moveTo>
                <a:lnTo>
                  <a:pt x="1830638" y="0"/>
                </a:lnTo>
                <a:lnTo>
                  <a:pt x="1830638" y="704352"/>
                </a:lnTo>
                <a:lnTo>
                  <a:pt x="0" y="7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5000"/>
            </a:blip>
            <a:stretch>
              <a:fillRect l="0" t="-65900" r="0" b="-9400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087984"/>
            <a:ext cx="9754495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</a:t>
            </a:r>
            <a:r>
              <a:rPr lang="en-US" sz="14956" spc="-523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aming the Models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10212" y="0"/>
            <a:ext cx="8477788" cy="10246402"/>
            <a:chOff x="0" y="0"/>
            <a:chExt cx="2232833" cy="26986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2833" cy="2698641"/>
            </a:xfrm>
            <a:custGeom>
              <a:avLst/>
              <a:gdLst/>
              <a:ahLst/>
              <a:cxnLst/>
              <a:rect r="r" b="b" t="t" l="l"/>
              <a:pathLst>
                <a:path h="2698641" w="2232833">
                  <a:moveTo>
                    <a:pt x="0" y="0"/>
                  </a:moveTo>
                  <a:lnTo>
                    <a:pt x="2232833" y="0"/>
                  </a:lnTo>
                  <a:lnTo>
                    <a:pt x="2232833" y="2698641"/>
                  </a:lnTo>
                  <a:lnTo>
                    <a:pt x="0" y="2698641"/>
                  </a:lnTo>
                  <a:close/>
                </a:path>
              </a:pathLst>
            </a:custGeom>
            <a:solidFill>
              <a:srgbClr val="C2E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32833" cy="2755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91194" y="701906"/>
            <a:ext cx="6786091" cy="8419232"/>
          </a:xfrm>
          <a:custGeom>
            <a:avLst/>
            <a:gdLst/>
            <a:ahLst/>
            <a:cxnLst/>
            <a:rect r="r" b="b" t="t" l="l"/>
            <a:pathLst>
              <a:path h="8419232" w="6786091">
                <a:moveTo>
                  <a:pt x="0" y="0"/>
                </a:moveTo>
                <a:lnTo>
                  <a:pt x="6786091" y="0"/>
                </a:lnTo>
                <a:lnTo>
                  <a:pt x="6786091" y="8419233"/>
                </a:lnTo>
                <a:lnTo>
                  <a:pt x="0" y="8419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55" t="-10035" r="-41288" b="-268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9469" y="55690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Why Minesweeper is Ideal for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9022" y="6600762"/>
            <a:ext cx="7553325" cy="296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8"/>
              </a:lnSpc>
            </a:pPr>
            <a:r>
              <a:rPr lang="en-US" sz="2742" spc="-41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Minesweeper presents a unique challenge for AI training due to its need for </a:t>
            </a:r>
            <a:r>
              <a:rPr lang="en-US" b="true" sz="2742" spc="-41" strike="noStrike" u="none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logical reasoning</a:t>
            </a:r>
            <a:r>
              <a:rPr lang="en-US" sz="2742" spc="-41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b="true" sz="2742" spc="-41" strike="noStrike" u="none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pattern recognition</a:t>
            </a:r>
            <a:r>
              <a:rPr lang="en-US" sz="2742" spc="-41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The game involves uncertainty and requires probabilistic decision-making skills, making it an excellent learning opportunity.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8427" y="6327494"/>
            <a:ext cx="8409535" cy="319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113" indent="-329556" lvl="1">
              <a:lnSpc>
                <a:spcPts val="4274"/>
              </a:lnSpc>
              <a:buFont typeface="Arial"/>
              <a:buChar char="•"/>
            </a:pPr>
            <a:r>
              <a:rPr lang="en-US" sz="3052" spc="-45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input using visual game representations for training</a:t>
            </a:r>
          </a:p>
          <a:p>
            <a:pPr algn="l" marL="659113" indent="-329556" lvl="1">
              <a:lnSpc>
                <a:spcPts val="4274"/>
              </a:lnSpc>
              <a:buFont typeface="Arial"/>
              <a:buChar char="•"/>
            </a:pPr>
            <a:r>
              <a:rPr lang="en-US" sz="3052" spc="-45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Reinforcement learning enhances decision-making through iterative feedback</a:t>
            </a:r>
          </a:p>
          <a:p>
            <a:pPr algn="l" marL="659113" indent="-329556" lvl="1">
              <a:lnSpc>
                <a:spcPts val="4274"/>
              </a:lnSpc>
              <a:buFont typeface="Arial"/>
              <a:buChar char="•"/>
            </a:pPr>
            <a:r>
              <a:rPr lang="en-US" sz="3052" spc="-45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Parameter tuning optimizes accuracy and speeds up responses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81025"/>
            <a:ext cx="6886575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Approach to Training and Tuning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243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49183" y="7080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mprov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M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del – St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</a:t>
            </a:r>
            <a:r>
              <a:rPr lang="en-US" sz="8000" strike="noStrike" u="none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9183" y="2862217"/>
            <a:ext cx="6515817" cy="705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345" spc="-35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 </a:t>
            </a:r>
            <a:r>
              <a:rPr lang="en-US" b="true" sz="2345" spc="-35" strike="noStrike" u="none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Adjust Reward Functions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</a:t>
            </a: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</a:t>
            </a: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Rew</a:t>
            </a: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</a:t>
            </a: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logical deduction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Penalize random moves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Reward correct mine flagging</a:t>
            </a:r>
          </a:p>
          <a:p>
            <a:pPr algn="l" marL="0" indent="0" lvl="0">
              <a:lnSpc>
                <a:spcPts val="3705"/>
              </a:lnSpc>
            </a:pPr>
            <a:r>
              <a:rPr lang="en-US" b="true" sz="2345" spc="-35" strike="noStrike" u="none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  Tune Hyperparameters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</a:t>
            </a: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 Increase  for longer training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Adjust  (1e-5 → 1e-4)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Increase  for more capacity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Adjust  (2–8)</a:t>
            </a:r>
          </a:p>
          <a:p>
            <a:pPr algn="l" marL="0" indent="0" lvl="0">
              <a:lnSpc>
                <a:spcPts val="3705"/>
              </a:lnSpc>
            </a:pPr>
            <a:r>
              <a:rPr lang="en-US" b="true" sz="2345" spc="-35" strike="noStrike" u="none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  Better Training Data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</a:t>
            </a: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 Generate diverse states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Include harder scenarios (more mines)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Add deduction-heavy states</a:t>
            </a:r>
          </a:p>
          <a:p>
            <a:pPr algn="l" marL="0" indent="0" lvl="0">
              <a:lnSpc>
                <a:spcPts val="3705"/>
              </a:lnSpc>
            </a:pPr>
            <a:r>
              <a:rPr lang="en-US" b="true" sz="2345" spc="-35" strike="noStrike" u="none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  Advanced Techniques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</a:t>
            </a: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 Multi-step rollouts in reward function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Curriculum learning (easy → hard boards)</a:t>
            </a:r>
          </a:p>
          <a:p>
            <a:pPr algn="l" marL="0" indent="0" lvl="0">
              <a:lnSpc>
                <a:spcPts val="3086"/>
              </a:lnSpc>
            </a:pPr>
            <a:r>
              <a:rPr lang="en-US" sz="1953" spc="-29" strike="noStrike" u="none">
                <a:solidFill>
                  <a:srgbClr val="ECF0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•  Ensemble multiple models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ECF0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225439" y="2853534"/>
            <a:ext cx="9709322" cy="676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42"/>
              </a:lnSpc>
            </a:pPr>
          </a:p>
          <a:p>
            <a:pPr algn="l" marL="870434" indent="-435217" lvl="1">
              <a:lnSpc>
                <a:spcPts val="5241"/>
              </a:lnSpc>
              <a:buFont typeface="Arial"/>
              <a:buChar char="•"/>
            </a:pPr>
            <a:r>
              <a:rPr lang="en-US" b="true" sz="4031" spc="-60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Experiment with reward functions</a:t>
            </a:r>
          </a:p>
          <a:p>
            <a:pPr algn="l" marL="870434" indent="-435217" lvl="1">
              <a:lnSpc>
                <a:spcPts val="5241"/>
              </a:lnSpc>
              <a:buFont typeface="Arial"/>
              <a:buChar char="•"/>
            </a:pPr>
            <a:r>
              <a:rPr lang="en-US" b="true" sz="4031" spc="-60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Try different board sizes during training</a:t>
            </a:r>
          </a:p>
          <a:p>
            <a:pPr algn="l" marL="870434" indent="-435217" lvl="1">
              <a:lnSpc>
                <a:spcPts val="5241"/>
              </a:lnSpc>
              <a:buFont typeface="Arial"/>
              <a:buChar char="•"/>
            </a:pPr>
            <a:r>
              <a:rPr lang="en-US" b="true" sz="4031" spc="-60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Analyze failed games to refine rewards</a:t>
            </a:r>
          </a:p>
          <a:p>
            <a:pPr algn="l" marL="870434" indent="-435217" lvl="1">
              <a:lnSpc>
                <a:spcPts val="5241"/>
              </a:lnSpc>
              <a:buFont typeface="Arial"/>
              <a:buChar char="•"/>
            </a:pPr>
            <a:r>
              <a:rPr lang="en-US" b="true" sz="4031" spc="-60">
                <a:solidFill>
                  <a:srgbClr val="ECF0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 temperature sampling during evaluation</a:t>
            </a:r>
          </a:p>
          <a:p>
            <a:pPr algn="l" marL="0" indent="0" lvl="0">
              <a:lnSpc>
                <a:spcPts val="524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672916" y="1459792"/>
            <a:ext cx="9120864" cy="156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56"/>
              </a:lnSpc>
            </a:pPr>
            <a:r>
              <a:rPr lang="en-US" sz="11656" spc="-407">
                <a:solidFill>
                  <a:srgbClr val="ECF0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Team Strategy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Training and Tuning AI</dc:description>
  <dc:identifier>DAHBYHFFB70</dc:identifier>
  <dcterms:modified xsi:type="dcterms:W3CDTF">2011-08-01T06:04:30Z</dcterms:modified>
  <cp:revision>1</cp:revision>
  <dc:title>Presentation - Training and Tuning AI</dc:title>
</cp:coreProperties>
</file>